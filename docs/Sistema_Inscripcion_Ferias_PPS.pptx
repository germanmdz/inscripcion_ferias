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B2A4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058400" y="3474720"/>
            <a:ext cx="4572000" cy="45720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PROYECTO PROFESIONAL SUPERVISADO  ·  ENTREGA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77240" y="1965960"/>
            <a:ext cx="8686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Sistema de Inscripción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Ferias Municipales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977640"/>
            <a:ext cx="7589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Digitalización del proceso de inscripción, gestión de cupos y comunicación con feriantes para el municipio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822960" y="4800600"/>
            <a:ext cx="292608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Alumno</a:t>
            </a: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Germán Mendoza   </a:t>
            </a: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  |  Stack: </a:t>
            </a: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Next.js · Express · TypeORM · PostgreSQL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Contexto y Justificación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fmla="val 1633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El problema actual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68680" y="224028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Las ferias del municipio se gestionan hoy de forma completamente manual: inscripciones por mensaje o formulario y registro en planillas.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La selección de feriantes cuando la demanda supera el cupo es subjetiva, generando conflictos y reclamos frecuentes.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No existe un historial centralizado de participación por feriante ni trazabilidad de las decisiones.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fmla="val 1633" name="adj"/>
            </a:avLst>
          </a:prstGeom>
          <a:solidFill>
            <a:srgbClr val="111B33"/>
          </a:solidFill>
          <a:ln>
            <a:noFill/>
          </a:ln>
          <a:effectLst>
            <a:outerShdw blurRad="101600" rotWithShape="0" algn="bl" dir="54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Propósito del proyecto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583680" y="2286000"/>
            <a:ext cx="47548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Digitalizar y optimizar el proceso de inscripción, organización y comunicación de las ferias municipales, brindando una plataforma accesible tanto para feriantes como para administradores.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3977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7086600" y="39776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Acceso desde dispositivos móviles y computadoras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45262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7086600" y="45262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Administración municipal centralizada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50749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7086600" y="50749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Difusión pública de feriantes y emprendimientos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Objetivos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Alcance, plazo y esfuerzo definidos en el acta de constitución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60020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28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5"/>
          <p:cNvSpPr/>
          <p:nvPr/>
        </p:nvSpPr>
        <p:spPr>
          <a:xfrm>
            <a:off x="1417320" y="175564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3 meses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22960" y="237744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Plazo estimado de 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434840" y="160020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828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303520" y="175564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120 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709160" y="237744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Carga máxima de esfuerzo individual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321040" y="1600200"/>
            <a:ext cx="3611880" cy="1737360"/>
          </a:xfrm>
          <a:prstGeom prst="roundRect">
            <a:avLst>
              <a:gd fmla="val 421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95360" y="18288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9189720" y="1755648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100%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595360" y="2377440"/>
            <a:ext cx="3108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Accesible y usable desde cualquier dispositivo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3566160"/>
            <a:ext cx="11064240" cy="2468880"/>
          </a:xfrm>
          <a:prstGeom prst="roundRect">
            <a:avLst>
              <a:gd fmla="val 2963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8686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Indicadores de valor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2793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1280160" y="4251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Registrar al menos </a:t>
            </a:r>
            <a:r>
              <a:rPr lang="en-US" sz="1300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0 feriantes en los primeros 2 meses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7000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/>
          <p:nvPr/>
        </p:nvSpPr>
        <p:spPr>
          <a:xfrm>
            <a:off x="1280160" y="467258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80% de inscripciones realizadas sin intervención manual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51206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5"/>
          <p:cNvSpPr/>
          <p:nvPr/>
        </p:nvSpPr>
        <p:spPr>
          <a:xfrm>
            <a:off x="1280160" y="509320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Confirmación de feriantes en menos de 24 horas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55412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1280160" y="55138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85% o más de satisfacción en encuestas a feriantes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Alcance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Entregables principales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1737360"/>
            <a:ext cx="2697480" cy="283464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777240" y="1965960"/>
            <a:ext cx="685800" cy="6858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130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6"/>
          <p:cNvSpPr/>
          <p:nvPr/>
        </p:nvSpPr>
        <p:spPr>
          <a:xfrm>
            <a:off x="777240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Registro de feriantes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777240" y="333756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Plataforma web para registro y administración de perfiles de feriantes.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438144" y="1737360"/>
            <a:ext cx="2697480" cy="283464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66744" y="1965960"/>
            <a:ext cx="685800" cy="6858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31336" y="2130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3666744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Inscripción a ferias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3666744" y="333756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con cupos automáticos y lista de espera.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327648" y="1737360"/>
            <a:ext cx="2697480" cy="283464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556248" y="1965960"/>
            <a:ext cx="685800" cy="6858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0" y="2130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6556248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Panel administrativo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556248" y="333756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Gestión para administradores municipales: aprobaciones, ferias y reportes.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217152" y="1737360"/>
            <a:ext cx="2697480" cy="283464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445752" y="1965960"/>
            <a:ext cx="685800" cy="685800"/>
          </a:xfrm>
          <a:prstGeom prst="ellipse">
            <a:avLst/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10344" y="21305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9445752" y="278892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Sección pública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9445752" y="333756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Información de próximas ferias y feriantes confirmados, para difusión.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548640" y="4846320"/>
            <a:ext cx="11064240" cy="1143000"/>
          </a:xfrm>
          <a:prstGeom prst="roundRect">
            <a:avLst>
              <a:gd fmla="val 6400" name="adj"/>
            </a:avLst>
          </a:prstGeom>
          <a:solidFill>
            <a:srgbClr val="11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8680" y="4846320"/>
            <a:ext cx="104241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Fuera de alcance:  </a:t>
            </a: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sin mensajería interna, sin notificaciones automáticas, sin app nativa, sin reportes avanzados/BI, sin soporte multi-idioma ni multi-municipio.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Metodología y Planificación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Ciclo iterativo e incremental, organizado en 3 sprints (8 semanas)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645920"/>
            <a:ext cx="3611880" cy="406908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48640" y="1645920"/>
            <a:ext cx="3611880" cy="868680"/>
          </a:xfrm>
          <a:prstGeom prst="roundRect">
            <a:avLst>
              <a:gd fmla="val 842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548640" y="2240280"/>
            <a:ext cx="36118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777240" y="17556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77240" y="2075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7 nov – 15 nov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777240" y="265176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Análisis y Diseño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777240" y="3154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Relevamiento de necesidades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7240" y="35295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Requisitos func. y no func.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77240" y="39044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Arquitectura y tecnologías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77240" y="42793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Diseño de UX/UI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370832" y="1645920"/>
            <a:ext cx="3611880" cy="406908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370832" y="1645920"/>
            <a:ext cx="3611880" cy="868680"/>
          </a:xfrm>
          <a:prstGeom prst="roundRect">
            <a:avLst>
              <a:gd fmla="val 842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370832" y="2240280"/>
            <a:ext cx="36118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99432" y="17556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99432" y="2075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17 nov – 8 dic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99432" y="265176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Inscripciones y Cupos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599432" y="3154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Setup del proyecto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99432" y="35295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Creación básica de feria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99432" y="39044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Inscripción a ferias (MVP)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599432" y="42793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Lista de aceptados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599432" y="4654296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Fronten</a:t>
            </a: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 de visualización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93024" y="1645920"/>
            <a:ext cx="3611880" cy="406908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193024" y="1645920"/>
            <a:ext cx="3611880" cy="868680"/>
          </a:xfrm>
          <a:prstGeom prst="roundRect">
            <a:avLst>
              <a:gd fmla="val 8421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193024" y="2240280"/>
            <a:ext cx="3611880" cy="2743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8421624" y="175564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Sprint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421624" y="2075688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8 dic – 22 dic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421624" y="2651760"/>
            <a:ext cx="3154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CRUD y Seguridad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8421624" y="315468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CRUD de usuarios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8421624" y="352958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CRUD de ferias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421624" y="39044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Login (back y front)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421624" y="427939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00"/>
              <a:buFont typeface="Calibri"/>
              <a:buChar char="✓"/>
            </a:pPr>
            <a:r>
              <a:rPr b="0" i="0" lang="en-US" sz="11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Roles y permisos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Requisitos Funcionales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Principales capacidades del sistema (RF1–RF10)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169164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48640" y="169164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RF1–RF2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2148840" y="169164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Registro de feriantes y administración de perfil (datos personales, rubro, redes, fotos).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48640" y="242316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48640" y="242316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RF3–RF4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2148840" y="242316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Listado de ferias con cupo disponible e inscripción del feriante.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315468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548640" y="315468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RF5–RF6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2148840" y="315468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Gestión automática de cupos y lista de espera; aprobación/rechazo por administrador.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548640" y="388620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48640" y="388620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2148840" y="388620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Notificación al feriante ante cambios de estado en su inscripción.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548640" y="461772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548640" y="461772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RF8–RF9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148840" y="461772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Alta, modificación y cancelación de ferias; reportes de inscriptos y cupos.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5349240"/>
            <a:ext cx="1417320" cy="621792"/>
          </a:xfrm>
          <a:prstGeom prst="roundRect">
            <a:avLst>
              <a:gd fmla="val 1176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548640" y="5349240"/>
            <a:ext cx="14173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2148840" y="5349240"/>
            <a:ext cx="94640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Sección pública con próximas ferias y feriantes confirmados.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33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Arquitectura del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E0A458"/>
                </a:solidFill>
                <a:latin typeface="Calibri"/>
                <a:ea typeface="Calibri"/>
                <a:cs typeface="Calibri"/>
                <a:sym typeface="Calibri"/>
              </a:rPr>
              <a:t>Tres capas desacopladas, comunicadas vía REST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822960" y="1920240"/>
            <a:ext cx="3383280" cy="3931920"/>
          </a:xfrm>
          <a:prstGeom prst="roundRect">
            <a:avLst>
              <a:gd fmla="val 2703" name="adj"/>
            </a:avLst>
          </a:prstGeom>
          <a:solidFill>
            <a:srgbClr val="1B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194560" y="21945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9" title="chalkboard-soli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850" y="2308875"/>
            <a:ext cx="411475" cy="41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1005840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Presentación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1005840" y="35204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Next.js (App Router)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React 19 · Tailwind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9"/>
          <p:cNvCxnSpPr/>
          <p:nvPr/>
        </p:nvCxnSpPr>
        <p:spPr>
          <a:xfrm>
            <a:off x="1371600" y="443484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9"/>
          <p:cNvSpPr/>
          <p:nvPr/>
        </p:nvSpPr>
        <p:spPr>
          <a:xfrm>
            <a:off x="1005840" y="45720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Interfaz para feriantes y administradores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160525" y="356616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0A45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480560" y="1920240"/>
            <a:ext cx="3383280" cy="3931920"/>
          </a:xfrm>
          <a:prstGeom prst="roundRect">
            <a:avLst>
              <a:gd fmla="val 2703" name="adj"/>
            </a:avLst>
          </a:prstGeom>
          <a:solidFill>
            <a:srgbClr val="1B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5852160" y="21945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9" title="sitemap-soli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0651" y="2273062"/>
            <a:ext cx="483088" cy="483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/>
          <p:nvPr/>
        </p:nvSpPr>
        <p:spPr>
          <a:xfrm>
            <a:off x="4663440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Lógica de negocio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663440" y="35204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Express.js · Node.js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Controller → Service → Repository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>
            <a:off x="5029200" y="443484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9"/>
          <p:cNvSpPr/>
          <p:nvPr/>
        </p:nvSpPr>
        <p:spPr>
          <a:xfrm>
            <a:off x="4663440" y="45720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Reglas de inscripción, criterios de selección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818125" y="3566185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0A45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138160" y="1920240"/>
            <a:ext cx="3383280" cy="3931920"/>
          </a:xfrm>
          <a:prstGeom prst="roundRect">
            <a:avLst>
              <a:gd fmla="val 2703" name="adj"/>
            </a:avLst>
          </a:prstGeom>
          <a:solidFill>
            <a:srgbClr val="1B2A4A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509760" y="21945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2" name="Google Shape;19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46951" y="2331763"/>
            <a:ext cx="365700" cy="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8321040" y="3017520"/>
            <a:ext cx="3017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321040" y="3520440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vía TypeORM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" name="Google Shape;195;p9"/>
          <p:cNvCxnSpPr/>
          <p:nvPr/>
        </p:nvCxnSpPr>
        <p:spPr>
          <a:xfrm>
            <a:off x="8686800" y="443484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9"/>
          <p:cNvSpPr/>
          <p:nvPr/>
        </p:nvSpPr>
        <p:spPr>
          <a:xfrm>
            <a:off x="8321040" y="457200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Usuario · Feria · Inscripción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Modelo de Datos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Tres entidades principales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548640" y="1691640"/>
            <a:ext cx="3566160" cy="3200400"/>
          </a:xfrm>
          <a:prstGeom prst="roundRect">
            <a:avLst>
              <a:gd fmla="val 228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548640" y="1691640"/>
            <a:ext cx="3566160" cy="640080"/>
          </a:xfrm>
          <a:prstGeom prst="roundRect">
            <a:avLst>
              <a:gd fmla="val 1142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548640" y="2103120"/>
            <a:ext cx="3566160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777240" y="16916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Usuario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77240" y="2514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nombre, email, contraseña (hash)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77240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rol: admin / user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77240" y="35204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rubro, teléfono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77240" y="40233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ultimaInscripcion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325112" y="1691640"/>
            <a:ext cx="3566160" cy="3200400"/>
          </a:xfrm>
          <a:prstGeom prst="roundRect">
            <a:avLst>
              <a:gd fmla="val 228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4325112" y="1691640"/>
            <a:ext cx="3566160" cy="640080"/>
          </a:xfrm>
          <a:prstGeom prst="roundRect">
            <a:avLst>
              <a:gd fmla="val 1142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4325112" y="2103120"/>
            <a:ext cx="3566160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4553712" y="16916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Feria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53712" y="2514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nombre, fecha, horarios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dirección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53712" y="35204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cupo máximo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53712" y="40233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listasGeneradas (flag)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8101584" y="1691640"/>
            <a:ext cx="3566160" cy="3200400"/>
          </a:xfrm>
          <a:prstGeom prst="roundRect">
            <a:avLst>
              <a:gd fmla="val 2286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8101584" y="1691640"/>
            <a:ext cx="3566160" cy="640080"/>
          </a:xfrm>
          <a:prstGeom prst="roundRect">
            <a:avLst>
              <a:gd fmla="val 11429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"/>
          <p:cNvSpPr/>
          <p:nvPr/>
        </p:nvSpPr>
        <p:spPr>
          <a:xfrm>
            <a:off x="8101584" y="2103120"/>
            <a:ext cx="3566160" cy="228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330184" y="169164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Inscripción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8330184" y="2514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clave compuesta: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330184" y="301752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(usuarioId, feriaId)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8330184" y="352044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8330184" y="40233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timestamp de inscripción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Relación: un Usuario puede tener múltiples Inscripciones a distintas Ferias; cada Feria agrupa múltiples Inscripciones.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Lógica de Inscripción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Estados posibles de un feriante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48640" y="1737360"/>
            <a:ext cx="182880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9050">
            <a:solidFill>
              <a:srgbClr val="5B6B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5B6B82"/>
                </a:solidFill>
                <a:latin typeface="Cambria"/>
                <a:ea typeface="Cambria"/>
                <a:cs typeface="Cambria"/>
                <a:sym typeface="Cambria"/>
              </a:rPr>
              <a:t>pendiente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58368" y="2377440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Nunca participó en una feria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2377440" y="2331720"/>
            <a:ext cx="292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2670048" y="1737360"/>
            <a:ext cx="182880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9050">
            <a:solidFill>
              <a:srgbClr val="2C7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2670048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7A4D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2C7A4D"/>
                </a:solidFill>
                <a:latin typeface="Cambria"/>
                <a:ea typeface="Cambria"/>
                <a:cs typeface="Cambria"/>
                <a:sym typeface="Cambria"/>
              </a:rPr>
              <a:t>confirmado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2779776" y="2377440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Participa en la feria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4498848" y="2331720"/>
            <a:ext cx="292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4791456" y="1737360"/>
            <a:ext cx="182880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9050">
            <a:solidFill>
              <a:srgbClr val="E0A4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791456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suplente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4901184" y="2377440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Quedó en lista de espera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620256" y="2331720"/>
            <a:ext cx="292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912864" y="1737360"/>
            <a:ext cx="182880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9050">
            <a:solidFill>
              <a:srgbClr val="C143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6912864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1432B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C1432B"/>
                </a:solidFill>
                <a:latin typeface="Cambria"/>
                <a:ea typeface="Cambria"/>
                <a:cs typeface="Cambria"/>
                <a:sym typeface="Cambria"/>
              </a:rPr>
              <a:t>rechazado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/>
          <p:nvPr/>
        </p:nvSpPr>
        <p:spPr>
          <a:xfrm>
            <a:off x="7022592" y="2377440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No seleccionado (inhabilitado)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/>
          <p:nvPr/>
        </p:nvSpPr>
        <p:spPr>
          <a:xfrm>
            <a:off x="8741664" y="2331720"/>
            <a:ext cx="29260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B2A4A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1"/>
          <p:cNvSpPr/>
          <p:nvPr/>
        </p:nvSpPr>
        <p:spPr>
          <a:xfrm>
            <a:off x="9034272" y="1737360"/>
            <a:ext cx="182880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9034272" y="19202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próximo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9144000" y="2377440"/>
            <a:ext cx="16093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Cumplió la inhabilitación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48640" y="3840480"/>
            <a:ext cx="11064240" cy="2240280"/>
          </a:xfrm>
          <a:prstGeom prst="roundRect">
            <a:avLst>
              <a:gd fmla="val 3265" name="adj"/>
            </a:avLst>
          </a:prstGeom>
          <a:solidFill>
            <a:srgbClr val="111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868680" y="4023360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Estrategias de selección — Patrón Strategy (clase Criterio)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868680" y="4434840"/>
            <a:ext cx="104241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OrdenLlegada: </a:t>
            </a: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ordena estrictamente por fecha de inscripción (createdAt).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PrioridadInicial: </a:t>
            </a: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agrupa pendiente → suplente → confirmado → rechazado, y dentro de cada grupo por llegada.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PrioridadRegenerada: </a:t>
            </a:r>
            <a:r>
              <a:rPr lang="en-US" sz="1200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nvierte el orden entre confirmado y suplente (se ejecut</a:t>
            </a:r>
            <a:r>
              <a:rPr lang="en-US" sz="1200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a en caso de haber nuevos feriantes luego de generar el listado final</a:t>
            </a:r>
            <a:r>
              <a:rPr b="0" i="0" lang="en-US" sz="120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Seguridad y Requisitos No Funcionales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548640" y="1645920"/>
            <a:ext cx="5394960" cy="4114800"/>
          </a:xfrm>
          <a:prstGeom prst="roundRect">
            <a:avLst>
              <a:gd fmla="val 1778" name="adj"/>
            </a:avLst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8745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2"/>
          <p:cNvSpPr/>
          <p:nvPr/>
        </p:nvSpPr>
        <p:spPr>
          <a:xfrm>
            <a:off x="1417320" y="190195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Autenticación (JWT)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868680" y="2423160"/>
            <a:ext cx="4754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Access token con expiración de 15 minutos.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7E3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Refresh token (7 días) en cookie httpOnly.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7E3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Middleware authMiddleware / adminMiddleware en rutas protegidas.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D7E3FA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Contraseñas hasheadas con bcrypt antes de persistir.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6263640" y="164592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"/>
          <p:cNvSpPr/>
          <p:nvPr/>
        </p:nvSpPr>
        <p:spPr>
          <a:xfrm>
            <a:off x="6537960" y="171907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Usabilidad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6537960" y="20574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Plataforma intuitiva y accesible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6263640" y="265176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6537960" y="272491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Rendimiento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6537960" y="30632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&lt; 3s con hasta 100 usuarios concurrentes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263640" y="365760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537960" y="373075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Disponibilidad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6537960" y="40690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≥ 98% durante el primer año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6263640" y="466344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6537960" y="473659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Compatibilidad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6537960" y="50749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Web responsive: Chrome, Firefox, Edge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Riesgos del Proyecto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48640" y="100584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Principales riesgos identificados y su mitigación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48640" y="16916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5143505" y="165509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Prob</a:t>
            </a:r>
            <a:r>
              <a:rPr b="1" lang="en-US" sz="1150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abilidad</a:t>
            </a:r>
            <a:endParaRPr b="1" sz="1150">
              <a:solidFill>
                <a:srgbClr val="5B6B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6149308" y="1618540"/>
            <a:ext cx="100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Impacto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315208" y="1618490"/>
            <a:ext cx="425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731520" y="210312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Cambios en criterios de selección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212080" y="2304288"/>
            <a:ext cx="777240" cy="365760"/>
          </a:xfrm>
          <a:prstGeom prst="roundRect">
            <a:avLst>
              <a:gd fmla="val 15000" name="adj"/>
            </a:avLst>
          </a:prstGeom>
          <a:solidFill>
            <a:srgbClr val="C14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3"/>
          <p:cNvSpPr/>
          <p:nvPr/>
        </p:nvSpPr>
        <p:spPr>
          <a:xfrm>
            <a:off x="5212080" y="2304288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6217920" y="2304288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C14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217920" y="2304288"/>
            <a:ext cx="86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360920" y="2103120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Diseño modular con patrón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8640" y="2999232"/>
            <a:ext cx="11064240" cy="77724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731520" y="2999232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Baja adopción digital de feriantes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212080" y="3200400"/>
            <a:ext cx="777240" cy="365760"/>
          </a:xfrm>
          <a:prstGeom prst="roundRect">
            <a:avLst>
              <a:gd fmla="val 15000" name="adj"/>
            </a:avLst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5212080" y="320040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6217920" y="3200400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C14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6217920" y="3200400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7360920" y="2999232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Interfaz simplificada; inscripción asistida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48640" y="3895344"/>
            <a:ext cx="11064240" cy="77724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731520" y="3895344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Requisitos ambiguos o incompletos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212080" y="4096512"/>
            <a:ext cx="777240" cy="365760"/>
          </a:xfrm>
          <a:prstGeom prst="roundRect">
            <a:avLst>
              <a:gd fmla="val 15000" name="adj"/>
            </a:avLst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5212080" y="409651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6217920" y="4096512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C14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6217920" y="4096512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7360920" y="3895344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Validación iterativa y prototipado rápido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548640" y="4791456"/>
            <a:ext cx="11064240" cy="777240"/>
          </a:xfrm>
          <a:prstGeom prst="rect">
            <a:avLst/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731520" y="4791456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Scope creep (nuevas funcionalidades)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212080" y="4992624"/>
            <a:ext cx="777240" cy="365760"/>
          </a:xfrm>
          <a:prstGeom prst="roundRect">
            <a:avLst>
              <a:gd fmla="val 15000" name="adj"/>
            </a:avLst>
          </a:prstGeom>
          <a:solidFill>
            <a:srgbClr val="C14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3"/>
          <p:cNvSpPr/>
          <p:nvPr/>
        </p:nvSpPr>
        <p:spPr>
          <a:xfrm>
            <a:off x="5212080" y="499262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6217920" y="4992624"/>
            <a:ext cx="868680" cy="365760"/>
          </a:xfrm>
          <a:prstGeom prst="roundRect">
            <a:avLst>
              <a:gd fmla="val 15000" name="adj"/>
            </a:avLst>
          </a:prstGeom>
          <a:solidFill>
            <a:srgbClr val="E0A45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6217920" y="4992624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360920" y="4791456"/>
            <a:ext cx="4160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Alcance definido en acta; backlog para futuro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Beneficios Esperados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48640" y="1645920"/>
            <a:ext cx="3611880" cy="420624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777240" y="187452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2" name="Google Shape;332;p14" title="city-soli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4"/>
          <p:cNvSpPr/>
          <p:nvPr/>
        </p:nvSpPr>
        <p:spPr>
          <a:xfrm>
            <a:off x="1508760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Municipio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777240" y="2697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Menor carga operativa: de horas a minutos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777240" y="3291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Transparencia y trazabilidad de decisiones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77240" y="3886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Criterios de prioridad estandarizados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777240" y="448056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Gestión centralizada de ferias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4325112" y="1645920"/>
            <a:ext cx="3611880" cy="420624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4553712" y="187452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0872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4"/>
          <p:cNvSpPr/>
          <p:nvPr/>
        </p:nvSpPr>
        <p:spPr>
          <a:xfrm>
            <a:off x="5285232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Feriantes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553712" y="2697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Inscripción digital desde cualquier lugar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4553712" y="3291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Visibilidad del calendario de ferias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4553712" y="3886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Perfil propio reutilizable en cada inscripción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8101584" y="1645920"/>
            <a:ext cx="3611880" cy="4206240"/>
          </a:xfrm>
          <a:prstGeom prst="roundRect">
            <a:avLst>
              <a:gd fmla="val 2025" name="adj"/>
            </a:avLst>
          </a:prstGeom>
          <a:solidFill>
            <a:srgbClr val="F4F7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8330184" y="187452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7" name="Google Shape;34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7344" y="20116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4"/>
          <p:cNvSpPr/>
          <p:nvPr/>
        </p:nvSpPr>
        <p:spPr>
          <a:xfrm>
            <a:off x="9061704" y="19659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11B33"/>
                </a:solidFill>
                <a:latin typeface="Cambria"/>
                <a:ea typeface="Cambria"/>
                <a:cs typeface="Cambria"/>
                <a:sym typeface="Cambria"/>
              </a:rPr>
              <a:t>A nivel sistema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8330184" y="2697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Escalabilidad: arquitectura por capas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8330184" y="32918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11B33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11B33"/>
                </a:solidFill>
                <a:latin typeface="Calibri"/>
                <a:ea typeface="Calibri"/>
                <a:cs typeface="Calibri"/>
                <a:sym typeface="Calibri"/>
              </a:rPr>
              <a:t>Mantenibilidad: dominio desacoplado de infraestructura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82"/>
                </a:solidFill>
                <a:latin typeface="Calibri"/>
                <a:ea typeface="Calibri"/>
                <a:cs typeface="Calibri"/>
                <a:sym typeface="Calibri"/>
              </a:rPr>
              <a:t>Sistema de Inscripción a Ferias  | 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B33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B2A4A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Conclusiones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548640" y="137160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D7E3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D7E3FA"/>
                </a:solidFill>
                <a:latin typeface="Calibri"/>
                <a:ea typeface="Calibri"/>
                <a:cs typeface="Calibri"/>
                <a:sym typeface="Calibri"/>
              </a:rPr>
              <a:t>El proyecto digitaliza una gestión municipal hoy manual y propensa a errores, automatizando la aplicación de criterios de selección y aportando transparencia tanto para el municipio como para los feriantes.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6334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5"/>
          <p:cNvSpPr/>
          <p:nvPr/>
        </p:nvSpPr>
        <p:spPr>
          <a:xfrm>
            <a:off x="1005840" y="2606040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por capas (Node.js, TypeScript, Express, TypeORM, PostgreSQL) que facilita la evolución del sistema.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2" name="Google Shape;3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334670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5"/>
          <p:cNvSpPr/>
          <p:nvPr/>
        </p:nvSpPr>
        <p:spPr>
          <a:xfrm>
            <a:off x="1005840" y="3319272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patrón Strategy desacopla la lógica de selección, permitiendo nuevos criterios sin modificar código existente.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4" name="Google Shape;3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05993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15"/>
          <p:cNvSpPr/>
          <p:nvPr/>
        </p:nvSpPr>
        <p:spPr>
          <a:xfrm>
            <a:off x="1005840" y="4032504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Principales desafíos: adopción digital de usuarios y evolución de criterios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mitigables con diseño flexible y comunicación fluida.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6" name="Google Shape;3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731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/>
          <p:nvPr/>
        </p:nvSpPr>
        <p:spPr>
          <a:xfrm>
            <a:off x="1005840" y="4745736"/>
            <a:ext cx="10332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Potencial de escalar a notificaciones automáticas, reportes históricos y mejoras de accesibilidad.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548640" y="5852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458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0A458"/>
                </a:solidFill>
                <a:latin typeface="Cambria"/>
                <a:ea typeface="Cambria"/>
                <a:cs typeface="Cambria"/>
                <a:sym typeface="Cambria"/>
              </a:rPr>
              <a:t>¡Gracias!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